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7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Pulse para desplazar la diapositiva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82941EB-DA30-4EE9-B019-FE338A991F62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Siempre nos hemos preguntado cómo podemos sacar mejores notas; pues aquí veremos qué hábitos de estudio afectan a ello y cuáles 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7FBBB1-9B38-4A8E-B5F6-3CD800F1854F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9" name=""/>
          <p:cNvSpPr/>
          <p:nvPr/>
        </p:nvSpPr>
        <p:spPr>
          <a:xfrm>
            <a:off x="551880" y="4544280"/>
            <a:ext cx="604728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alumnos tienen diferentes backgrounds, ya que han crecido en diferentes entornos. Esto se ha medido mediante: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 educación de los padres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El tipo de escuela al que el alumno ha acudido: pública o privada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Los ingresos anuales familiares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29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(mín=55)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Vemos la distribución y la frecuencia de las notas del examen dividido en rangos por columnas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columnas están divididas por cuántos estudiantes caen dentro de este rango. Ejemplo: 1500 estudiantes han sacado entre 60 y 65.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Columna más alta nos indica dónde se concentran la mayoría de los datos; es decir, la mayoría de los estudiantes han sacado entre 65 y 70 → sacar media: 67,24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822B8D-3F02-413E-A472-706332712E2A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437400" y="5078520"/>
            <a:ext cx="604728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Preguntar al público: ¿qué créeis que se tiene en cuenta a la hora de organizar tus estudios?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426960" y="4292640"/>
            <a:ext cx="5997240" cy="166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línea roja es la línea de regresión lineal (o línea de tendencia)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Muestra la dirección de la relación entre las dos variables: como la línea sube, hay una relación positiva: contra más horas se estudia, mejor nota se sacará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Índice de correlación (IC): 0,45; contra más cerca del 1, más impacto tendrá esa variable en la nota final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467280" y="4428720"/>
            <a:ext cx="6046920" cy="9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Contra más se atienda a clase, mejor nota se sacará.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Índice de correlación (IC): 0,58; por lo que esta variable afecta más que las “Hours_Studied”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507240" y="4412880"/>
            <a:ext cx="6046920" cy="100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Hay una relación positiva pero la tendencia no es tan fuerte como en los 2 casos anteriores; es decir,contra más tutorías se hagan, no se tiene por qué sacar mejor nota aunque hay alguna probabilidad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Esto se ve porque la pendiente de la línea roja no es tan empinada como las anteriores: contra menos inclinación, la relación entre variables es menos fuerte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IC: 0,16 -&gt; contra más cerca del 0, menos impacto tendrá esa variable en la nota final, siendo 0 ninguna relación entre variables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443160" y="4268160"/>
            <a:ext cx="6046920" cy="12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IC: -0,017 -&gt; contra más cerca del 0, menos impacto tendrá esa variable en la nota final, siendo 0 ninguna relación entre variables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Conclusión: no hay ninguna relación entre estas variables.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El valor negativo no afecta a la relación si está cerca del 0, pero en caso de que el IC esté más cerca del -1, las variables tendrían un valor negativo; es decir, en este ejemplo si el IC fuera -0,917 significaría que contra menos se duerma de media por noche, mejor nota se saca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467280" y="4404600"/>
            <a:ext cx="604692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Ejemplo mapa de calor que relaciona todas las variables Numéricas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426960" y="4292280"/>
            <a:ext cx="6046920" cy="141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variables Categóricas, se dibuja un gráfico de promedios que representa la media de los valores de cada variable vs Exam_Score y se ve que cada grupo da muy parecido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variables no influyen significativamente en el resultado del examen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1063080" y="5078520"/>
            <a:ext cx="4987080" cy="69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¿Opináis que la motivación de un estudiante afecta a la nota final?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1063080" y="5078520"/>
            <a:ext cx="4987080" cy="69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¿Opináis que la motivación de un estudiante afecta a la nota final?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3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16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320" cy="22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2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reeform 6"/>
          <p:cNvSpPr/>
          <p:nvPr/>
        </p:nvSpPr>
        <p:spPr>
          <a:xfrm>
            <a:off x="0" y="4323960"/>
            <a:ext cx="1743480" cy="777600"/>
          </a:xfrm>
          <a:custGeom>
            <a:avLst/>
            <a:gdLst>
              <a:gd name="textAreaLeft" fmla="*/ 0 w 1743480"/>
              <a:gd name="textAreaRight" fmla="*/ 1744560 w 1743480"/>
              <a:gd name="textAreaTop" fmla="*/ 0 h 777600"/>
              <a:gd name="textAreaBottom" fmla="*/ 778680 h 777600"/>
            </a:gdLst>
            <a:ahLst/>
            <a:cxn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3"/>
          </p:nvPr>
        </p:nvSpPr>
        <p:spPr>
          <a:xfrm>
            <a:off x="531720" y="452952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A8B80B-03ED-4F83-8C7F-EBAFD922CD14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Pulse para editar el formato de texto del esquema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 del esquema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 del esquema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 del esquema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 del esquema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Sexto nivel del esquema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Séptimo nivel del esquema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descrip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36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49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589120" y="609480"/>
            <a:ext cx="8914320" cy="311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589120" y="4354200"/>
            <a:ext cx="8914320" cy="155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4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5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11"/>
          <p:cNvSpPr/>
          <p:nvPr/>
        </p:nvSpPr>
        <p:spPr>
          <a:xfrm flipV="1">
            <a:off x="-3240" y="317736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6"/>
          </p:nvPr>
        </p:nvSpPr>
        <p:spPr>
          <a:xfrm>
            <a:off x="531720" y="324396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3B6155-FCCE-4768-81DE-3E28D34E9BD5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con descrip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69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82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850120" y="609480"/>
            <a:ext cx="8392680" cy="289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3274920" y="3505320"/>
            <a:ext cx="753552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2589120" y="4354200"/>
            <a:ext cx="8914320" cy="155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7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reeform 11"/>
          <p:cNvSpPr/>
          <p:nvPr/>
        </p:nvSpPr>
        <p:spPr>
          <a:xfrm flipV="1">
            <a:off x="-3240" y="317736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9"/>
          </p:nvPr>
        </p:nvSpPr>
        <p:spPr>
          <a:xfrm>
            <a:off x="531720" y="324396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B08FDF-A26F-4689-A9FD-EDE3008A66C3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2467800" y="6480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11115000" y="2905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jeta de nombre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105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118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589120" y="2438280"/>
            <a:ext cx="891432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4320" cy="7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10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ftr" idx="11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reeform 11"/>
          <p:cNvSpPr/>
          <p:nvPr/>
        </p:nvSpPr>
        <p:spPr>
          <a:xfrm flipV="1">
            <a:off x="-3240" y="491112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12"/>
          </p:nvPr>
        </p:nvSpPr>
        <p:spPr>
          <a:xfrm>
            <a:off x="531720" y="498312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B315CF9-1FE3-4BB1-B713-8CA1EBCE6F9B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r la tarjeta de nombre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138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151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850120" y="609480"/>
            <a:ext cx="8392680" cy="289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2589120" y="4343400"/>
            <a:ext cx="8914320" cy="83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4320" cy="7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reeform 11"/>
          <p:cNvSpPr/>
          <p:nvPr/>
        </p:nvSpPr>
        <p:spPr>
          <a:xfrm flipV="1">
            <a:off x="-3240" y="491112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5"/>
          </p:nvPr>
        </p:nvSpPr>
        <p:spPr>
          <a:xfrm>
            <a:off x="531720" y="498312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E81AE4-FB3A-4129-BEA7-BDD41E86833E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2467800" y="6480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7"/>
          <p:cNvSpPr/>
          <p:nvPr/>
        </p:nvSpPr>
        <p:spPr>
          <a:xfrm>
            <a:off x="11115000" y="2905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dadero o fals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174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187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2589120" y="627480"/>
            <a:ext cx="8914320" cy="28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2589120" y="4343400"/>
            <a:ext cx="8914320" cy="83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4320" cy="7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reeform 11"/>
          <p:cNvSpPr/>
          <p:nvPr/>
        </p:nvSpPr>
        <p:spPr>
          <a:xfrm flipV="1">
            <a:off x="-3240" y="491112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sldNum" idx="18"/>
          </p:nvPr>
        </p:nvSpPr>
        <p:spPr>
          <a:xfrm>
            <a:off x="531720" y="498312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6562DC9-4919-48DC-AA0A-41BEC9593C0F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208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0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221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3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4320" cy="388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dt" idx="19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ftr" idx="20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sldNum" idx="21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FF3908-06B0-4187-9E26-5E9DCB65862A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241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3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254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6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9294840" y="627480"/>
            <a:ext cx="2206440" cy="528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589120" y="627480"/>
            <a:ext cx="6476040" cy="528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dt" idx="22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ftr" idx="23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sldNum" idx="24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E1C7A1-1B8E-4099-95DD-29B675A76CD1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274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6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287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9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4320" cy="37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dt" idx="25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ftr" idx="26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sldNum" idx="27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B47045-785D-4105-9F2C-04AD1616A546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307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9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320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2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589120" y="2058840"/>
            <a:ext cx="8914320" cy="146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2589120" y="3530160"/>
            <a:ext cx="8914320" cy="85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dt" idx="28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ftr" idx="29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reeform 11"/>
          <p:cNvSpPr/>
          <p:nvPr/>
        </p:nvSpPr>
        <p:spPr>
          <a:xfrm flipV="1">
            <a:off x="-3240" y="317736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 type="sldNum" idx="30"/>
          </p:nvPr>
        </p:nvSpPr>
        <p:spPr>
          <a:xfrm>
            <a:off x="531720" y="324396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871E8F-E7B4-4D9A-A03E-4753DA473E48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340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2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353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5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12800" cy="37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7190640" y="2126160"/>
            <a:ext cx="4312800" cy="37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 type="dt" idx="31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ftr" idx="32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6"/>
          <p:cNvSpPr>
            <a:spLocks noGrp="1"/>
          </p:cNvSpPr>
          <p:nvPr>
            <p:ph type="sldNum" idx="33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5ECE92-249B-4465-A30E-C37454A323EE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374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387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9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2939400" y="1972800"/>
            <a:ext cx="399168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body"/>
          </p:nvPr>
        </p:nvSpPr>
        <p:spPr>
          <a:xfrm>
            <a:off x="2589120" y="2548800"/>
            <a:ext cx="4341960" cy="335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 type="body"/>
          </p:nvPr>
        </p:nvSpPr>
        <p:spPr>
          <a:xfrm>
            <a:off x="7506720" y="1969560"/>
            <a:ext cx="399780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4" name="PlaceHolder 5"/>
          <p:cNvSpPr>
            <a:spLocks noGrp="1"/>
          </p:cNvSpPr>
          <p:nvPr>
            <p:ph type="body"/>
          </p:nvPr>
        </p:nvSpPr>
        <p:spPr>
          <a:xfrm>
            <a:off x="7166880" y="2545560"/>
            <a:ext cx="4337640" cy="335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5" name="PlaceHolder 6"/>
          <p:cNvSpPr>
            <a:spLocks noGrp="1"/>
          </p:cNvSpPr>
          <p:nvPr>
            <p:ph type="dt" idx="34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7"/>
          <p:cNvSpPr>
            <a:spLocks noGrp="1"/>
          </p:cNvSpPr>
          <p:nvPr>
            <p:ph type="ftr" idx="35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8"/>
          <p:cNvSpPr>
            <a:spLocks noGrp="1"/>
          </p:cNvSpPr>
          <p:nvPr>
            <p:ph type="sldNum" idx="36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FE1087F-CAF3-4E35-8FD7-F7DE415959FB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410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2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423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5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dt" idx="37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ftr" idx="38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sldNum" idx="39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53D182-43BF-4792-8F82-F8F3B538D5C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442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4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455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7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1"/>
          <p:cNvSpPr>
            <a:spLocks noGrp="1"/>
          </p:cNvSpPr>
          <p:nvPr>
            <p:ph type="dt" idx="40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ftr" idx="41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42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567ED74-BDD3-490D-8B1F-31D026BD753F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473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5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486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8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2589120" y="446040"/>
            <a:ext cx="3504240" cy="97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323040" y="446040"/>
            <a:ext cx="5180400" cy="54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body"/>
          </p:nvPr>
        </p:nvSpPr>
        <p:spPr>
          <a:xfrm>
            <a:off x="2589120" y="1598760"/>
            <a:ext cx="3504240" cy="426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dt" idx="43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PlaceHolder 5"/>
          <p:cNvSpPr>
            <a:spLocks noGrp="1"/>
          </p:cNvSpPr>
          <p:nvPr>
            <p:ph type="ftr" idx="44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reeform 11"/>
          <p:cNvSpPr/>
          <p:nvPr/>
        </p:nvSpPr>
        <p:spPr>
          <a:xfrm flipV="1">
            <a:off x="-3240" y="71244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6"/>
          <p:cNvSpPr>
            <a:spLocks noGrp="1"/>
          </p:cNvSpPr>
          <p:nvPr>
            <p:ph type="sldNum" idx="45"/>
          </p:nvPr>
        </p:nvSpPr>
        <p:spPr>
          <a:xfrm>
            <a:off x="531720" y="78768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01E94F1-E0AA-4411-9620-FC37D0090098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roup 22"/>
          <p:cNvGrpSpPr/>
          <p:nvPr/>
        </p:nvGrpSpPr>
        <p:grpSpPr>
          <a:xfrm>
            <a:off x="0" y="228600"/>
            <a:ext cx="2850480" cy="6637680"/>
            <a:chOff x="0" y="228600"/>
            <a:chExt cx="2850480" cy="6637680"/>
          </a:xfrm>
        </p:grpSpPr>
        <p:sp>
          <p:nvSpPr>
            <p:cNvPr id="507" name="Freeform 11"/>
            <p:cNvSpPr/>
            <p:nvPr/>
          </p:nvSpPr>
          <p:spPr>
            <a:xfrm>
              <a:off x="0" y="2575080"/>
              <a:ext cx="99720" cy="624960"/>
            </a:xfrm>
            <a:custGeom>
              <a:avLst/>
              <a:gdLst>
                <a:gd name="textAreaLeft" fmla="*/ 0 w 99720"/>
                <a:gd name="textAreaRight" fmla="*/ 100800 w 99720"/>
                <a:gd name="textAreaTop" fmla="*/ 0 h 624960"/>
                <a:gd name="textAreaBottom" fmla="*/ 626040 h 62496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040" tIns="45000" rIns="50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Freeform 12"/>
            <p:cNvSpPr/>
            <p:nvPr/>
          </p:nvSpPr>
          <p:spPr>
            <a:xfrm>
              <a:off x="128520" y="3156480"/>
              <a:ext cx="645480" cy="2321280"/>
            </a:xfrm>
            <a:custGeom>
              <a:avLst/>
              <a:gdLst>
                <a:gd name="textAreaLeft" fmla="*/ 0 w 645480"/>
                <a:gd name="textAreaRight" fmla="*/ 646560 w 645480"/>
                <a:gd name="textAreaTop" fmla="*/ 0 h 2321280"/>
                <a:gd name="textAreaBottom" fmla="*/ 2322360 h 232128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Freeform 13"/>
            <p:cNvSpPr/>
            <p:nvPr/>
          </p:nvSpPr>
          <p:spPr>
            <a:xfrm>
              <a:off x="807120" y="5447160"/>
              <a:ext cx="608400" cy="1419120"/>
            </a:xfrm>
            <a:custGeom>
              <a:avLst/>
              <a:gdLst>
                <a:gd name="textAreaLeft" fmla="*/ 0 w 608400"/>
                <a:gd name="textAreaRight" fmla="*/ 609480 w 608400"/>
                <a:gd name="textAreaTop" fmla="*/ 0 h 1419120"/>
                <a:gd name="textAreaBottom" fmla="*/ 1420200 h 141912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eform 14"/>
            <p:cNvSpPr/>
            <p:nvPr/>
          </p:nvSpPr>
          <p:spPr>
            <a:xfrm>
              <a:off x="959760" y="6503760"/>
              <a:ext cx="170280" cy="362520"/>
            </a:xfrm>
            <a:custGeom>
              <a:avLst/>
              <a:gdLst>
                <a:gd name="textAreaLeft" fmla="*/ 0 w 170280"/>
                <a:gd name="textAreaRight" fmla="*/ 171360 w 170280"/>
                <a:gd name="textAreaTop" fmla="*/ 0 h 362520"/>
                <a:gd name="textAreaBottom" fmla="*/ 363600 h 36252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45000" rIns="85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eform 15"/>
            <p:cNvSpPr/>
            <p:nvPr/>
          </p:nvSpPr>
          <p:spPr>
            <a:xfrm>
              <a:off x="100800" y="3201120"/>
              <a:ext cx="820800" cy="3327480"/>
            </a:xfrm>
            <a:custGeom>
              <a:avLst/>
              <a:gdLst>
                <a:gd name="textAreaLeft" fmla="*/ 0 w 820800"/>
                <a:gd name="textAreaRight" fmla="*/ 821880 w 820800"/>
                <a:gd name="textAreaTop" fmla="*/ 0 h 3327480"/>
                <a:gd name="textAreaBottom" fmla="*/ 3328560 h 332748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Freeform 16"/>
            <p:cNvSpPr/>
            <p:nvPr/>
          </p:nvSpPr>
          <p:spPr>
            <a:xfrm>
              <a:off x="22320" y="228600"/>
              <a:ext cx="105120" cy="2926800"/>
            </a:xfrm>
            <a:custGeom>
              <a:avLst/>
              <a:gdLst>
                <a:gd name="textAreaLeft" fmla="*/ 0 w 105120"/>
                <a:gd name="textAreaRight" fmla="*/ 106200 w 105120"/>
                <a:gd name="textAreaTop" fmla="*/ 0 h 2926800"/>
                <a:gd name="textAreaBottom" fmla="*/ 2927880 h 292680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560" tIns="45000" rIns="525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Freeform 17"/>
            <p:cNvSpPr/>
            <p:nvPr/>
          </p:nvSpPr>
          <p:spPr>
            <a:xfrm>
              <a:off x="78120" y="2944080"/>
              <a:ext cx="77040" cy="492840"/>
            </a:xfrm>
            <a:custGeom>
              <a:avLst/>
              <a:gdLst>
                <a:gd name="textAreaLeft" fmla="*/ 0 w 77040"/>
                <a:gd name="textAreaRight" fmla="*/ 78120 w 77040"/>
                <a:gd name="textAreaTop" fmla="*/ 0 h 492840"/>
                <a:gd name="textAreaBottom" fmla="*/ 493920 h 492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520" tIns="45000" rIns="385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Freeform 18"/>
            <p:cNvSpPr/>
            <p:nvPr/>
          </p:nvSpPr>
          <p:spPr>
            <a:xfrm>
              <a:off x="769680" y="5478840"/>
              <a:ext cx="189000" cy="102384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023840"/>
                <a:gd name="textAreaBottom" fmla="*/ 1024920 h 102384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eform 19"/>
            <p:cNvSpPr/>
            <p:nvPr/>
          </p:nvSpPr>
          <p:spPr>
            <a:xfrm>
              <a:off x="775440" y="1398960"/>
              <a:ext cx="2075040" cy="4047120"/>
            </a:xfrm>
            <a:custGeom>
              <a:avLst/>
              <a:gdLst>
                <a:gd name="textAreaLeft" fmla="*/ 0 w 2075040"/>
                <a:gd name="textAreaRight" fmla="*/ 2076120 w 2075040"/>
                <a:gd name="textAreaTop" fmla="*/ 0 h 4047120"/>
                <a:gd name="textAreaBottom" fmla="*/ 4048200 h 404712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eform 20"/>
            <p:cNvSpPr/>
            <p:nvPr/>
          </p:nvSpPr>
          <p:spPr>
            <a:xfrm>
              <a:off x="922680" y="6530040"/>
              <a:ext cx="160920" cy="3362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336240"/>
                <a:gd name="textAreaBottom" fmla="*/ 337320 h 33624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Freeform 21"/>
            <p:cNvSpPr/>
            <p:nvPr/>
          </p:nvSpPr>
          <p:spPr>
            <a:xfrm>
              <a:off x="769680" y="5359320"/>
              <a:ext cx="36360" cy="220680"/>
            </a:xfrm>
            <a:custGeom>
              <a:avLst/>
              <a:gdLst>
                <a:gd name="textAreaLeft" fmla="*/ 0 w 36360"/>
                <a:gd name="textAreaRight" fmla="*/ 37440 w 36360"/>
                <a:gd name="textAreaTop" fmla="*/ 0 h 220680"/>
                <a:gd name="textAreaBottom" fmla="*/ 221760 h 22068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360" tIns="45000" rIns="183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Freeform 22"/>
            <p:cNvSpPr/>
            <p:nvPr/>
          </p:nvSpPr>
          <p:spPr>
            <a:xfrm>
              <a:off x="849960" y="6244560"/>
              <a:ext cx="237600" cy="621360"/>
            </a:xfrm>
            <a:custGeom>
              <a:avLst/>
              <a:gdLst>
                <a:gd name="textAreaLeft" fmla="*/ 0 w 237600"/>
                <a:gd name="textAreaRight" fmla="*/ 238680 w 237600"/>
                <a:gd name="textAreaTop" fmla="*/ 0 h 621360"/>
                <a:gd name="textAreaBottom" fmla="*/ 622440 h 62136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9" name="Group 9"/>
          <p:cNvGrpSpPr/>
          <p:nvPr/>
        </p:nvGrpSpPr>
        <p:grpSpPr>
          <a:xfrm>
            <a:off x="27360" y="-720"/>
            <a:ext cx="2355480" cy="6852960"/>
            <a:chOff x="27360" y="-720"/>
            <a:chExt cx="2355480" cy="6852960"/>
          </a:xfrm>
        </p:grpSpPr>
        <p:sp>
          <p:nvSpPr>
            <p:cNvPr id="520" name="Freeform 27"/>
            <p:cNvSpPr/>
            <p:nvPr/>
          </p:nvSpPr>
          <p:spPr>
            <a:xfrm>
              <a:off x="27360" y="-720"/>
              <a:ext cx="493200" cy="4399920"/>
            </a:xfrm>
            <a:custGeom>
              <a:avLst/>
              <a:gdLst>
                <a:gd name="textAreaLeft" fmla="*/ 0 w 493200"/>
                <a:gd name="textAreaRight" fmla="*/ 494280 w 493200"/>
                <a:gd name="textAreaTop" fmla="*/ 0 h 4399920"/>
                <a:gd name="textAreaBottom" fmla="*/ 4401000 h 439992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Freeform 28"/>
            <p:cNvSpPr/>
            <p:nvPr/>
          </p:nvSpPr>
          <p:spPr>
            <a:xfrm>
              <a:off x="550440" y="4316400"/>
              <a:ext cx="422280" cy="1579680"/>
            </a:xfrm>
            <a:custGeom>
              <a:avLst/>
              <a:gdLst>
                <a:gd name="textAreaLeft" fmla="*/ 0 w 422280"/>
                <a:gd name="textAreaRight" fmla="*/ 423360 w 422280"/>
                <a:gd name="textAreaTop" fmla="*/ 0 h 1579680"/>
                <a:gd name="textAreaBottom" fmla="*/ 1580760 h 157968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Freeform 29"/>
            <p:cNvSpPr/>
            <p:nvPr/>
          </p:nvSpPr>
          <p:spPr>
            <a:xfrm>
              <a:off x="1006200" y="5862600"/>
              <a:ext cx="429840" cy="989640"/>
            </a:xfrm>
            <a:custGeom>
              <a:avLst/>
              <a:gdLst>
                <a:gd name="textAreaLeft" fmla="*/ 0 w 429840"/>
                <a:gd name="textAreaRight" fmla="*/ 430920 w 429840"/>
                <a:gd name="textAreaTop" fmla="*/ 0 h 989640"/>
                <a:gd name="textAreaBottom" fmla="*/ 990720 h 98964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Freeform 30"/>
            <p:cNvSpPr/>
            <p:nvPr/>
          </p:nvSpPr>
          <p:spPr>
            <a:xfrm>
              <a:off x="521640" y="4364280"/>
              <a:ext cx="550800" cy="2234880"/>
            </a:xfrm>
            <a:custGeom>
              <a:avLst/>
              <a:gdLst>
                <a:gd name="textAreaLeft" fmla="*/ 0 w 550800"/>
                <a:gd name="textAreaRight" fmla="*/ 551880 w 550800"/>
                <a:gd name="textAreaTop" fmla="*/ 0 h 2234880"/>
                <a:gd name="textAreaBottom" fmla="*/ 2235960 h 223488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eform 31"/>
            <p:cNvSpPr/>
            <p:nvPr/>
          </p:nvSpPr>
          <p:spPr>
            <a:xfrm>
              <a:off x="468000" y="1289160"/>
              <a:ext cx="173160" cy="302616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3026160"/>
                <a:gd name="textAreaBottom" fmla="*/ 3027240 h 302616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760" tIns="45000" rIns="86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eform 32"/>
            <p:cNvSpPr/>
            <p:nvPr/>
          </p:nvSpPr>
          <p:spPr>
            <a:xfrm>
              <a:off x="1111680" y="6571440"/>
              <a:ext cx="133200" cy="280440"/>
            </a:xfrm>
            <a:custGeom>
              <a:avLst/>
              <a:gdLst>
                <a:gd name="textAreaLeft" fmla="*/ 0 w 133200"/>
                <a:gd name="textAreaRight" fmla="*/ 134280 w 133200"/>
                <a:gd name="textAreaTop" fmla="*/ 0 h 280440"/>
                <a:gd name="textAreaBottom" fmla="*/ 281520 h 28044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5000" rIns="66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eform 33"/>
            <p:cNvSpPr/>
            <p:nvPr/>
          </p:nvSpPr>
          <p:spPr>
            <a:xfrm>
              <a:off x="502560" y="4107600"/>
              <a:ext cx="81360" cy="510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0480"/>
                <a:gd name="textAreaBottom" fmla="*/ 511560 h 51048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680" tIns="45000" rIns="4068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Freeform 34"/>
            <p:cNvSpPr/>
            <p:nvPr/>
          </p:nvSpPr>
          <p:spPr>
            <a:xfrm>
              <a:off x="973800" y="3145680"/>
              <a:ext cx="1409040" cy="2715840"/>
            </a:xfrm>
            <a:custGeom>
              <a:avLst/>
              <a:gdLst>
                <a:gd name="textAreaLeft" fmla="*/ 0 w 1409040"/>
                <a:gd name="textAreaRight" fmla="*/ 1410120 w 1409040"/>
                <a:gd name="textAreaTop" fmla="*/ 0 h 2715840"/>
                <a:gd name="textAreaBottom" fmla="*/ 2716920 h 271584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Freeform 35"/>
            <p:cNvSpPr/>
            <p:nvPr/>
          </p:nvSpPr>
          <p:spPr>
            <a:xfrm>
              <a:off x="1073520" y="6600240"/>
              <a:ext cx="119520" cy="25200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252000"/>
                <a:gd name="textAreaBottom" fmla="*/ 253080 h 25200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760" tIns="45000" rIns="597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Freeform 36"/>
            <p:cNvSpPr/>
            <p:nvPr/>
          </p:nvSpPr>
          <p:spPr>
            <a:xfrm>
              <a:off x="973800" y="5897160"/>
              <a:ext cx="136800" cy="673200"/>
            </a:xfrm>
            <a:custGeom>
              <a:avLst/>
              <a:gdLst>
                <a:gd name="textAreaLeft" fmla="*/ 0 w 136800"/>
                <a:gd name="textAreaRight" fmla="*/ 137880 w 136800"/>
                <a:gd name="textAreaTop" fmla="*/ 0 h 673200"/>
                <a:gd name="textAreaBottom" fmla="*/ 674280 h 67320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tIns="45000" rIns="68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Freeform 37"/>
            <p:cNvSpPr/>
            <p:nvPr/>
          </p:nvSpPr>
          <p:spPr>
            <a:xfrm>
              <a:off x="973800" y="5772600"/>
              <a:ext cx="37080" cy="226800"/>
            </a:xfrm>
            <a:custGeom>
              <a:avLst/>
              <a:gdLst>
                <a:gd name="textAreaLeft" fmla="*/ 0 w 37080"/>
                <a:gd name="textAreaRight" fmla="*/ 38160 w 37080"/>
                <a:gd name="textAreaTop" fmla="*/ 0 h 226800"/>
                <a:gd name="textAreaBottom" fmla="*/ 227880 h 2268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720" tIns="45000" rIns="187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Freeform 38"/>
            <p:cNvSpPr/>
            <p:nvPr/>
          </p:nvSpPr>
          <p:spPr>
            <a:xfrm>
              <a:off x="1006200" y="6322680"/>
              <a:ext cx="209520" cy="52956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529560"/>
                <a:gd name="textAreaBottom" fmla="*/ 530640 h 52956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2" name="Rectangle 6"/>
          <p:cNvSpPr/>
          <p:nvPr/>
        </p:nvSpPr>
        <p:spPr>
          <a:xfrm>
            <a:off x="0" y="0"/>
            <a:ext cx="181800" cy="685692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2589120" y="4800600"/>
            <a:ext cx="8914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2589120" y="635040"/>
            <a:ext cx="8914320" cy="385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Haga clic en el icono para agregar una imagen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body"/>
          </p:nvPr>
        </p:nvSpPr>
        <p:spPr>
          <a:xfrm>
            <a:off x="2589120" y="5367240"/>
            <a:ext cx="8914320" cy="49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dt" idx="46"/>
          </p:nvPr>
        </p:nvSpPr>
        <p:spPr>
          <a:xfrm>
            <a:off x="10361520" y="6130440"/>
            <a:ext cx="1145160" cy="3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 type="ftr" idx="47"/>
          </p:nvPr>
        </p:nvSpPr>
        <p:spPr>
          <a:xfrm>
            <a:off x="2589120" y="6135840"/>
            <a:ext cx="76190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reeform 11"/>
          <p:cNvSpPr/>
          <p:nvPr/>
        </p:nvSpPr>
        <p:spPr>
          <a:xfrm flipV="1">
            <a:off x="-3240" y="4911120"/>
            <a:ext cx="1587600" cy="506160"/>
          </a:xfrm>
          <a:custGeom>
            <a:avLst/>
            <a:gdLst>
              <a:gd name="textAreaLeft" fmla="*/ 0 w 1587600"/>
              <a:gd name="textAreaRight" fmla="*/ 1588680 w 1587600"/>
              <a:gd name="textAreaTop" fmla="*/ 720 h 506160"/>
              <a:gd name="textAreaBottom" fmla="*/ 507960 h 50616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6"/>
          <p:cNvSpPr>
            <a:spLocks noGrp="1"/>
          </p:cNvSpPr>
          <p:nvPr>
            <p:ph type="sldNum" idx="48"/>
          </p:nvPr>
        </p:nvSpPr>
        <p:spPr>
          <a:xfrm>
            <a:off x="531720" y="4983120"/>
            <a:ext cx="778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B5C570-65DC-4D71-AAD5-3233691EED2B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grandmaster07/student-exam-performance-dataset-analysis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320" cy="22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Proyecto EDA – Notas de exámenes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ubTitle"/>
          </p:nvPr>
        </p:nvSpPr>
        <p:spPr>
          <a:xfrm>
            <a:off x="2589120" y="5486400"/>
            <a:ext cx="8914320" cy="41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Hector Yustos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planteadas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320" cy="109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Principal: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0" name="Marcador de contenido 2"/>
          <p:cNvSpPr/>
          <p:nvPr/>
        </p:nvSpPr>
        <p:spPr>
          <a:xfrm>
            <a:off x="2580840" y="4399920"/>
            <a:ext cx="8914320" cy="14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Subhipótesis: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7" dur="8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0" dur="800"/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5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Consideraciones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2593080" y="1751040"/>
            <a:ext cx="89143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Fuente: </a:t>
            </a:r>
            <a:r>
              <a:rPr lang="es-ES" sz="1800" b="0" u="sng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  <a:hlinkClick r:id="rId1"/>
              </a:rPr>
              <a:t>https://www.kaggle.com/datasets/grandmaster07/student-exam-performance-dataset-analysis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3" name="Marcador de contenido 2"/>
          <p:cNvSpPr/>
          <p:nvPr/>
        </p:nvSpPr>
        <p:spPr>
          <a:xfrm>
            <a:off x="2589120" y="2518560"/>
            <a:ext cx="89143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Manteniendo la privacidad del estudio y los estudiantes, estos son los datos que se pueden revelar: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Marcador de contenido 2"/>
          <p:cNvSpPr/>
          <p:nvPr/>
        </p:nvSpPr>
        <p:spPr>
          <a:xfrm>
            <a:off x="2523960" y="3280320"/>
            <a:ext cx="891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Prestigiosa universidad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Marcador de contenido 2"/>
          <p:cNvSpPr/>
          <p:nvPr/>
        </p:nvSpPr>
        <p:spPr>
          <a:xfrm>
            <a:off x="2523960" y="3738600"/>
            <a:ext cx="5696640" cy="11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Estudiantes de una asignatura en particular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Marcador de contenido 2"/>
          <p:cNvSpPr/>
          <p:nvPr/>
        </p:nvSpPr>
        <p:spPr>
          <a:xfrm>
            <a:off x="2523960" y="5125320"/>
            <a:ext cx="8914320" cy="13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Evaluación mediante el examen final de la asignatura (variable principal)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Marcador de contenido 2"/>
          <p:cNvSpPr/>
          <p:nvPr/>
        </p:nvSpPr>
        <p:spPr>
          <a:xfrm>
            <a:off x="-2252520" y="4363560"/>
            <a:ext cx="89143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8" name="Marcador de contenido 2"/>
          <p:cNvSpPr/>
          <p:nvPr/>
        </p:nvSpPr>
        <p:spPr>
          <a:xfrm>
            <a:off x="2523960" y="4363560"/>
            <a:ext cx="5307120" cy="93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Seguimiento durante todo el cuatrimestre de sus hábitos de estudio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Marcador de contenido 2"/>
          <p:cNvSpPr/>
          <p:nvPr/>
        </p:nvSpPr>
        <p:spPr>
          <a:xfrm>
            <a:off x="6878880" y="3786120"/>
            <a:ext cx="524736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60" name=""/>
          <p:cNvSpPr/>
          <p:nvPr/>
        </p:nvSpPr>
        <p:spPr>
          <a:xfrm>
            <a:off x="7975440" y="4410720"/>
            <a:ext cx="1515240" cy="414360"/>
          </a:xfrm>
          <a:prstGeom prst="rightArrow">
            <a:avLst>
              <a:gd name="adj1" fmla="val 50000"/>
              <a:gd name="adj2" fmla="val 91363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Marcador de contenido 1"/>
          <p:cNvSpPr/>
          <p:nvPr/>
        </p:nvSpPr>
        <p:spPr>
          <a:xfrm>
            <a:off x="9279360" y="4410720"/>
            <a:ext cx="2057040" cy="6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algn="just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20 </a:t>
            </a: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variables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7984080" y="3668760"/>
            <a:ext cx="1495800" cy="414360"/>
          </a:xfrm>
          <a:prstGeom prst="rightArrow">
            <a:avLst>
              <a:gd name="adj1" fmla="val 50000"/>
              <a:gd name="adj2" fmla="val 90191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Marcador de contenido 4"/>
          <p:cNvSpPr/>
          <p:nvPr/>
        </p:nvSpPr>
        <p:spPr>
          <a:xfrm>
            <a:off x="9304920" y="3668760"/>
            <a:ext cx="219240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6.607 alumnos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4" name=""/>
          <p:cNvGraphicFramePr/>
          <p:nvPr/>
        </p:nvGraphicFramePr>
        <p:xfrm>
          <a:off x="4219560" y="5716800"/>
          <a:ext cx="5075280" cy="69336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 Mínima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 Máxima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6" dur="indefinite" restart="never" nodeType="tmRoot">
          <p:childTnLst>
            <p:seq>
              <p:cTn id="17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2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9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fill="hold" nodeType="afterEffect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55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fill="hold" nodeType="afterEffect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71" dur="125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12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Consideraciones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66" name="Imagen 13"/>
          <p:cNvPicPr/>
          <p:nvPr/>
        </p:nvPicPr>
        <p:blipFill>
          <a:blip r:embed="rId1"/>
          <a:stretch/>
        </p:blipFill>
        <p:spPr>
          <a:xfrm>
            <a:off x="3639960" y="1670040"/>
            <a:ext cx="7188480" cy="431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CuadroTexto 14"/>
          <p:cNvSpPr/>
          <p:nvPr/>
        </p:nvSpPr>
        <p:spPr>
          <a:xfrm>
            <a:off x="6270120" y="6190920"/>
            <a:ext cx="2314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Exam Score (0-100)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uadroTexto 15"/>
          <p:cNvSpPr/>
          <p:nvPr/>
        </p:nvSpPr>
        <p:spPr>
          <a:xfrm rot="16200000">
            <a:off x="2486880" y="3324240"/>
            <a:ext cx="1107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Student quantity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8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6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82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6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86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0720" cy="77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principal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2601720" y="1898640"/>
            <a:ext cx="8914320" cy="37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1" name="CuadroTexto 4"/>
          <p:cNvSpPr/>
          <p:nvPr/>
        </p:nvSpPr>
        <p:spPr>
          <a:xfrm>
            <a:off x="2764800" y="2899080"/>
            <a:ext cx="1743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Hours Studied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CuadroTexto 5"/>
          <p:cNvSpPr/>
          <p:nvPr/>
        </p:nvSpPr>
        <p:spPr>
          <a:xfrm>
            <a:off x="3157920" y="3672360"/>
            <a:ext cx="15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Attendance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CuadroTexto 6"/>
          <p:cNvSpPr/>
          <p:nvPr/>
        </p:nvSpPr>
        <p:spPr>
          <a:xfrm>
            <a:off x="5563800" y="2799000"/>
            <a:ext cx="15541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Parental Involvement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CuadroTexto 7"/>
          <p:cNvSpPr/>
          <p:nvPr/>
        </p:nvSpPr>
        <p:spPr>
          <a:xfrm>
            <a:off x="8382600" y="2846520"/>
            <a:ext cx="15541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Access to Resources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CuadroTexto 8"/>
          <p:cNvSpPr/>
          <p:nvPr/>
        </p:nvSpPr>
        <p:spPr>
          <a:xfrm>
            <a:off x="9484200" y="5388120"/>
            <a:ext cx="17949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Extracurricular Activities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CuadroTexto 9"/>
          <p:cNvSpPr/>
          <p:nvPr/>
        </p:nvSpPr>
        <p:spPr>
          <a:xfrm>
            <a:off x="3067560" y="4658760"/>
            <a:ext cx="155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Sleep Hours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CuadroTexto 10"/>
          <p:cNvSpPr/>
          <p:nvPr/>
        </p:nvSpPr>
        <p:spPr>
          <a:xfrm>
            <a:off x="5295960" y="4074120"/>
            <a:ext cx="12672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Internet Access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adroTexto 11"/>
          <p:cNvSpPr/>
          <p:nvPr/>
        </p:nvSpPr>
        <p:spPr>
          <a:xfrm>
            <a:off x="5318280" y="5654520"/>
            <a:ext cx="15541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Tutoring Sessions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CuadroTexto 12"/>
          <p:cNvSpPr/>
          <p:nvPr/>
        </p:nvSpPr>
        <p:spPr>
          <a:xfrm>
            <a:off x="7140960" y="4207320"/>
            <a:ext cx="13579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Teacher Quality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CuadroTexto 13"/>
          <p:cNvSpPr/>
          <p:nvPr/>
        </p:nvSpPr>
        <p:spPr>
          <a:xfrm>
            <a:off x="3466440" y="5416560"/>
            <a:ext cx="143424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Physical Activity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CuadroTexto 14"/>
          <p:cNvSpPr/>
          <p:nvPr/>
        </p:nvSpPr>
        <p:spPr>
          <a:xfrm>
            <a:off x="7426440" y="5288040"/>
            <a:ext cx="15541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Learning Disabilities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CuadroTexto 15"/>
          <p:cNvSpPr/>
          <p:nvPr/>
        </p:nvSpPr>
        <p:spPr>
          <a:xfrm>
            <a:off x="8989200" y="4108680"/>
            <a:ext cx="17949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Distance from Home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93" dur="2000"/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"/>
                            </p:stCondLst>
                            <p:childTnLst>
                              <p:par>
                                <p:cTn id="99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2"/>
                            </p:stCondLst>
                            <p:childTnLst>
                              <p:par>
                                <p:cTn id="102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3"/>
                            </p:stCondLst>
                            <p:childTnLst>
                              <p:par>
                                <p:cTn id="105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04"/>
                            </p:stCondLst>
                            <p:childTnLst>
                              <p:par>
                                <p:cTn id="108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05"/>
                            </p:stCondLst>
                            <p:childTnLst>
                              <p:par>
                                <p:cTn id="111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6"/>
                            </p:stCondLst>
                            <p:childTnLst>
                              <p:par>
                                <p:cTn id="114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07"/>
                            </p:stCondLst>
                            <p:childTnLst>
                              <p:par>
                                <p:cTn id="117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408"/>
                            </p:stCondLst>
                            <p:childTnLst>
                              <p:par>
                                <p:cTn id="120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609"/>
                            </p:stCondLst>
                            <p:childTnLst>
                              <p:par>
                                <p:cTn id="12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810"/>
                            </p:stCondLst>
                            <p:childTnLst>
                              <p:par>
                                <p:cTn id="126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11"/>
                            </p:stCondLst>
                            <p:childTnLst>
                              <p:par>
                                <p:cTn id="129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Imagen 11"/>
          <p:cNvPicPr/>
          <p:nvPr/>
        </p:nvPicPr>
        <p:blipFill>
          <a:blip r:embed="rId1"/>
          <a:stretch/>
        </p:blipFill>
        <p:spPr>
          <a:xfrm>
            <a:off x="2348280" y="643320"/>
            <a:ext cx="8373240" cy="564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7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Imagen 11"/>
          <p:cNvPicPr/>
          <p:nvPr/>
        </p:nvPicPr>
        <p:blipFill>
          <a:blip r:embed="rId1"/>
          <a:stretch/>
        </p:blipFill>
        <p:spPr>
          <a:xfrm>
            <a:off x="2302920" y="570240"/>
            <a:ext cx="8432280" cy="568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38" dur="indefinite" restart="never" nodeType="tmRoot">
          <p:childTnLst>
            <p:seq>
              <p:cTn id="139" dur="indefinite" nodeType="mainSeq">
                <p:childTnLst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44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Marcador de contenido 6"/>
          <p:cNvPicPr/>
          <p:nvPr/>
        </p:nvPicPr>
        <p:blipFill>
          <a:blip r:embed="rId1"/>
          <a:stretch/>
        </p:blipFill>
        <p:spPr>
          <a:xfrm>
            <a:off x="2378880" y="609840"/>
            <a:ext cx="8362440" cy="564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51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Marcador de contenido 5"/>
          <p:cNvPicPr/>
          <p:nvPr/>
        </p:nvPicPr>
        <p:blipFill>
          <a:blip r:embed="rId1"/>
          <a:stretch/>
        </p:blipFill>
        <p:spPr>
          <a:xfrm>
            <a:off x="2252160" y="565560"/>
            <a:ext cx="8477640" cy="572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52" dur="indefinite" restart="never" nodeType="tmRoot">
          <p:childTnLst>
            <p:seq>
              <p:cTn id="153" dur="indefinite" nodeType="mainSeq">
                <p:childTnLst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58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Marcador de contenido 6"/>
          <p:cNvPicPr/>
          <p:nvPr/>
        </p:nvPicPr>
        <p:blipFill>
          <a:blip r:embed="rId1"/>
          <a:stretch/>
        </p:blipFill>
        <p:spPr>
          <a:xfrm>
            <a:off x="2638440" y="338760"/>
            <a:ext cx="7406280" cy="609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5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4266000" cy="77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principal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89" name=""/>
          <p:cNvPicPr/>
          <p:nvPr/>
        </p:nvPicPr>
        <p:blipFill>
          <a:blip r:embed="rId1"/>
          <a:stretch/>
        </p:blipFill>
        <p:spPr>
          <a:xfrm>
            <a:off x="6406920" y="1676520"/>
            <a:ext cx="5564880" cy="41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"/>
          <p:cNvPicPr/>
          <p:nvPr/>
        </p:nvPicPr>
        <p:blipFill>
          <a:blip r:embed="rId2"/>
          <a:stretch/>
        </p:blipFill>
        <p:spPr>
          <a:xfrm>
            <a:off x="516600" y="1686600"/>
            <a:ext cx="5571000" cy="414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66" dur="indefinite" restart="never" nodeType="tmRoot">
          <p:childTnLst>
            <p:seq>
              <p:cTn id="167" dur="indefinite" nodeType="mainSeq">
                <p:childTnLst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"/>
                            </p:stCondLst>
                            <p:childTnLst>
                              <p:par>
                                <p:cTn id="17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/>
          </p:nvPr>
        </p:nvSpPr>
        <p:spPr>
          <a:xfrm>
            <a:off x="2538360" y="2133720"/>
            <a:ext cx="8914320" cy="37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1001"/>
              </a:spcBef>
              <a:buNone/>
            </a:pP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2" name=""/>
          <p:cNvPicPr/>
          <p:nvPr/>
        </p:nvPicPr>
        <p:blipFill>
          <a:blip r:embed="rId1"/>
          <a:stretch/>
        </p:blipFill>
        <p:spPr>
          <a:xfrm>
            <a:off x="4572000" y="3548520"/>
            <a:ext cx="4029120" cy="313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"/>
          <p:cNvPicPr/>
          <p:nvPr/>
        </p:nvPicPr>
        <p:blipFill>
          <a:blip r:embed="rId2"/>
          <a:stretch/>
        </p:blipFill>
        <p:spPr>
          <a:xfrm>
            <a:off x="7293240" y="313200"/>
            <a:ext cx="3947760" cy="311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Imagen 3"/>
          <p:cNvPicPr/>
          <p:nvPr/>
        </p:nvPicPr>
        <p:blipFill>
          <a:blip r:embed="rId3"/>
          <a:stretch/>
        </p:blipFill>
        <p:spPr>
          <a:xfrm>
            <a:off x="1957320" y="311400"/>
            <a:ext cx="4000320" cy="314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"/>
                            </p:stCondLst>
                            <p:childTnLst>
                              <p:par>
                                <p:cTn id="182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2"/>
                            </p:stCondLst>
                            <p:childTnLst>
                              <p:par>
                                <p:cTn id="185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2939040" cy="72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Subhipótesis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/>
          </p:nvPr>
        </p:nvSpPr>
        <p:spPr>
          <a:xfrm>
            <a:off x="2529720" y="1625760"/>
            <a:ext cx="8914320" cy="37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7" name=""/>
          <p:cNvPicPr/>
          <p:nvPr/>
        </p:nvPicPr>
        <p:blipFill>
          <a:blip r:embed="rId1"/>
          <a:stretch/>
        </p:blipFill>
        <p:spPr>
          <a:xfrm>
            <a:off x="3971880" y="2404440"/>
            <a:ext cx="5968440" cy="389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87" dur="indefinite" restart="never" nodeType="tmRoot">
          <p:childTnLst>
            <p:seq>
              <p:cTn id="188" dur="indefinite" nodeType="mainSeq">
                <p:childTnLst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93" dur="2000"/>
                                        <p:tgtEl>
                                          <p:spTgt spid="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98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2939040" cy="72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Subhipótesis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9" name=""/>
          <p:cNvPicPr/>
          <p:nvPr/>
        </p:nvPicPr>
        <p:blipFill>
          <a:blip r:embed="rId1"/>
          <a:stretch/>
        </p:blipFill>
        <p:spPr>
          <a:xfrm>
            <a:off x="2658960" y="1404720"/>
            <a:ext cx="7838640" cy="509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05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3350160" cy="61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Conclusiones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>
          <a:xfrm>
            <a:off x="2419560" y="1710720"/>
            <a:ext cx="8914320" cy="109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Hipótesis Principal: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2" name="Marcador de contenido 3"/>
          <p:cNvSpPr/>
          <p:nvPr/>
        </p:nvSpPr>
        <p:spPr>
          <a:xfrm>
            <a:off x="2343960" y="3951000"/>
            <a:ext cx="8914320" cy="14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3" name=""/>
          <p:cNvGraphicFramePr/>
          <p:nvPr/>
        </p:nvGraphicFramePr>
        <p:xfrm>
          <a:off x="4627080" y="3882960"/>
          <a:ext cx="5500080" cy="2007720"/>
        </p:xfrm>
        <a:graphic>
          <a:graphicData uri="http://schemas.openxmlformats.org/drawingml/2006/table">
            <a:tbl>
              <a:tblPr/>
              <a:tblGrid>
                <a:gridCol w="2749680"/>
                <a:gridCol w="2750760"/>
              </a:tblGrid>
              <a:tr h="212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Nivel de afectación en la nota del examen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Índice de Correlación (IC)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>
                      <a:noFill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Attendance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0,58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Study Hours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0,46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Tutoring Sessions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0,16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Resto de variables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206" dur="indefinite" restart="never" nodeType="tmRoot">
          <p:childTnLst>
            <p:seq>
              <p:cTn id="207" dur="indefinite" nodeType="mainSeq">
                <p:childTnLst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12" dur="2000"/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8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15" dur="2000"/>
                                        <p:tgtEl>
                                          <p:spTgt spid="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20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3350160" cy="61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Conclusiones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5" name="Marcador de contenido 7"/>
          <p:cNvSpPr/>
          <p:nvPr/>
        </p:nvSpPr>
        <p:spPr>
          <a:xfrm>
            <a:off x="2301480" y="1716120"/>
            <a:ext cx="8914320" cy="14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Subhipótesis: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6307200" y="3191760"/>
            <a:ext cx="727560" cy="136260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2734560" y="5105160"/>
            <a:ext cx="2683440" cy="10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ES" sz="3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Nivel de Motivación</a:t>
            </a:r>
            <a:endParaRPr lang="es-E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8373600" y="5055120"/>
            <a:ext cx="2395800" cy="10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ES" sz="3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 del Examen</a:t>
            </a:r>
            <a:endParaRPr lang="es-E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8796960" y="3191760"/>
            <a:ext cx="727560" cy="136260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3869280" y="3191760"/>
            <a:ext cx="727560" cy="136260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 flipV="1">
            <a:off x="5774040" y="5021280"/>
            <a:ext cx="1981440" cy="982080"/>
          </a:xfrm>
          <a:prstGeom prst="line">
            <a:avLst/>
          </a:prstGeom>
          <a:ln w="180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35000" rIns="180000" bIns="135000" anchor="ctr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5824800" y="5021280"/>
            <a:ext cx="1981440" cy="982080"/>
          </a:xfrm>
          <a:prstGeom prst="line">
            <a:avLst/>
          </a:prstGeom>
          <a:ln w="180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35000" rIns="180000" bIns="135000" anchor="ctr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221" dur="indefinite" restart="never" nodeType="tmRoot">
          <p:childTnLst>
            <p:seq>
              <p:cTn id="222" dur="indefinite" nodeType="mainSeq">
                <p:childTnLst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27" dur="2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"/>
                            </p:stCondLst>
                            <p:childTnLst>
                              <p:par>
                                <p:cTn id="23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02"/>
                            </p:stCondLst>
                            <p:childTnLst>
                              <p:par>
                                <p:cTn id="236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4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42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46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500"/>
                            </p:stCondLst>
                            <p:childTnLst>
                              <p:par>
                                <p:cTn id="248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50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2500"/>
                            </p:stCondLst>
                            <p:childTnLst>
                              <p:par>
                                <p:cTn id="252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54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2589120" y="946800"/>
            <a:ext cx="891432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ESKERRIK ASKO</a:t>
            </a:r>
            <a:endParaRPr lang="es-ES" sz="7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/>
          </p:nvPr>
        </p:nvSpPr>
        <p:spPr>
          <a:xfrm>
            <a:off x="2589120" y="5181480"/>
            <a:ext cx="8914320" cy="7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Proyecto EDA – Notas de exámenes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743</TotalTime>
  <Application>LibreOffice/26.2.2.2$Windows_X86_64 LibreOffice_project/1f77d10d6938fd34972958f64b2bcfa54f8b1ba5</Application>
  <AppVersion>15.0000</AppVersion>
  <Words>322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2026-04-07T15:41:30Z</dcterms:created>
  <dc:creator>Héctor</dc:creator>
  <dc:description/>
  <dc:language>es-ES</dc:language>
  <cp:lastModifiedBy/>
  <dcterms:modified xsi:type="dcterms:W3CDTF">2026-04-14T22:45:26Z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15</vt:i4>
  </property>
</Properties>
</file>